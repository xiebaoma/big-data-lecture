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70" r:id="rId8"/>
    <p:sldId id="273" r:id="rId10"/>
    <p:sldId id="261" r:id="rId11"/>
    <p:sldId id="262" r:id="rId12"/>
    <p:sldId id="263" r:id="rId13"/>
    <p:sldId id="272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2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基于</a:t>
            </a:r>
            <a:r>
              <a:rPr lang="en-US" altLang="zh-CN"/>
              <a:t>Spark</a:t>
            </a:r>
            <a:r>
              <a:rPr lang="zh-CN" altLang="en-US"/>
              <a:t>的舆情分析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谢宝玛</a:t>
            </a:r>
            <a:r>
              <a:rPr lang="en-US" altLang="zh-CN"/>
              <a:t> 1120233506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，</a:t>
            </a:r>
            <a:r>
              <a:rPr lang="zh-CN" altLang="en-US"/>
              <a:t>这个应用有什么</a:t>
            </a:r>
            <a:r>
              <a:rPr lang="zh-CN" altLang="en-US"/>
              <a:t>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）政府</a:t>
            </a:r>
            <a:r>
              <a:rPr lang="en-US" altLang="zh-CN"/>
              <a:t>/</a:t>
            </a:r>
            <a:r>
              <a:rPr lang="zh-CN" altLang="en-US"/>
              <a:t>公共</a:t>
            </a:r>
            <a:r>
              <a:rPr lang="zh-CN" altLang="en-US"/>
              <a:t>管理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监测社会舆情走势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提前发现：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群体性事件风险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负面舆情爆发点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3.</a:t>
            </a:r>
            <a:r>
              <a:rPr lang="zh-CN" altLang="en-US"/>
              <a:t>示例：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某政策发布后，网民情绪是正面还是负面？变化趋势如何？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，</a:t>
            </a:r>
            <a:r>
              <a:rPr lang="zh-CN" altLang="en-US"/>
              <a:t>这个应用有什么</a:t>
            </a:r>
            <a:r>
              <a:rPr lang="zh-CN" altLang="en-US"/>
              <a:t>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）品牌口碑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典型问题：</a:t>
            </a:r>
            <a:endParaRPr lang="zh-CN" altLang="en-US"/>
          </a:p>
          <a:p>
            <a:pPr marL="285750" indent="-285750"/>
            <a:r>
              <a:rPr lang="zh-CN" altLang="en-US"/>
              <a:t>用户对某产品的情绪是变好还是变差？</a:t>
            </a:r>
            <a:endParaRPr lang="zh-CN" altLang="en-US"/>
          </a:p>
          <a:p>
            <a:pPr marL="285750" indent="-285750"/>
            <a:r>
              <a:rPr lang="zh-CN" altLang="en-US"/>
              <a:t>哪些功能被吐槽最多？</a:t>
            </a:r>
            <a:endParaRPr lang="zh-CN" altLang="en-US"/>
          </a:p>
          <a:p>
            <a:pPr marL="285750" indent="-285750"/>
            <a:r>
              <a:rPr lang="zh-CN" altLang="en-US"/>
              <a:t>新版本上线后负面评论是否激增？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，</a:t>
            </a:r>
            <a:r>
              <a:rPr lang="zh-CN" altLang="en-US"/>
              <a:t>这个应用有什么</a:t>
            </a:r>
            <a:r>
              <a:rPr lang="zh-CN" altLang="en-US"/>
              <a:t>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总结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舆情分析系统可以在海量非结构化文本中，自动挖掘公众关注热点与情绪变化，为决策提供数据支撑。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为什么用</a:t>
            </a:r>
            <a:r>
              <a:rPr lang="en-US" altLang="zh-CN"/>
              <a:t>spark?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Hadoop </a:t>
            </a:r>
            <a:r>
              <a:rPr lang="zh-CN" altLang="en-US"/>
              <a:t>提供了稳定可靠的分布式存储和资源管理能力，而</a:t>
            </a:r>
            <a:r>
              <a:rPr lang="en-US" altLang="zh-CN"/>
              <a:t> Spark </a:t>
            </a:r>
            <a:r>
              <a:rPr lang="zh-CN" altLang="en-US"/>
              <a:t>作为以内存计算为核心的通用计算引擎，能够在同一平台上高效支持批处理、流处理、</a:t>
            </a:r>
            <a:r>
              <a:rPr lang="en-US" altLang="zh-CN"/>
              <a:t>SQL </a:t>
            </a:r>
            <a:r>
              <a:rPr lang="zh-CN" altLang="en-US"/>
              <a:t>查询以及机器学习任务。两者通常结合使用，</a:t>
            </a:r>
            <a:r>
              <a:rPr lang="en-US" altLang="zh-CN"/>
              <a:t>Spark </a:t>
            </a:r>
            <a:r>
              <a:rPr lang="zh-CN" altLang="en-US"/>
              <a:t>运行在</a:t>
            </a:r>
            <a:r>
              <a:rPr lang="en-US" altLang="zh-CN"/>
              <a:t> Hadoop </a:t>
            </a:r>
            <a:r>
              <a:rPr lang="zh-CN" altLang="en-US"/>
              <a:t>生态之上，取代</a:t>
            </a:r>
            <a:r>
              <a:rPr lang="en-US" altLang="zh-CN"/>
              <a:t> MapReduce </a:t>
            </a:r>
            <a:r>
              <a:rPr lang="zh-CN" altLang="en-US"/>
              <a:t>作为主要计算框架。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2000"/>
              <a:t>模块一</a:t>
            </a:r>
            <a:r>
              <a:rPr lang="en-US" altLang="zh-CN" sz="2000"/>
              <a:t>：</a:t>
            </a:r>
            <a:r>
              <a:rPr lang="zh-CN" altLang="en-US" sz="2000"/>
              <a:t>文本数据</a:t>
            </a:r>
            <a:r>
              <a:rPr lang="zh-CN" altLang="en-US" sz="2000"/>
              <a:t>加载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1.data/generater（</a:t>
            </a:r>
            <a:r>
              <a:rPr lang="zh-CN" altLang="en-US" sz="2000"/>
              <a:t>生成模拟数据</a:t>
            </a:r>
            <a:r>
              <a:rPr lang="en-US" altLang="zh-CN" sz="2000"/>
              <a:t>）</a:t>
            </a:r>
            <a:endParaRPr lang="en-US" altLang="zh-CN" sz="2000"/>
          </a:p>
          <a:p>
            <a:r>
              <a:rPr lang="zh-CN" altLang="en-US" sz="2000"/>
              <a:t>数据来源</a:t>
            </a:r>
            <a:r>
              <a:rPr lang="en-US" altLang="zh-CN" sz="2000"/>
              <a:t>：</a:t>
            </a:r>
            <a:r>
              <a:rPr lang="zh-CN" altLang="en-US" sz="2000"/>
              <a:t>微博</a:t>
            </a:r>
            <a:r>
              <a:rPr lang="en-US" altLang="zh-CN" sz="2000"/>
              <a:t>，</a:t>
            </a:r>
            <a:r>
              <a:rPr lang="zh-CN" altLang="en-US" sz="2000"/>
              <a:t>商品评价</a:t>
            </a:r>
            <a:r>
              <a:rPr lang="en-US" altLang="zh-CN" sz="2000"/>
              <a:t>，</a:t>
            </a:r>
            <a:r>
              <a:rPr lang="zh-CN" altLang="en-US" sz="2000"/>
              <a:t>新闻</a:t>
            </a:r>
            <a:endParaRPr lang="zh-CN" altLang="en-US" sz="2000"/>
          </a:p>
          <a:p>
            <a:r>
              <a:rPr lang="zh-CN" altLang="en-US" sz="2000"/>
              <a:t>生成的数据字段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doc_id:ID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content:</a:t>
            </a:r>
            <a:r>
              <a:rPr lang="zh-CN" altLang="en-US" sz="2000"/>
              <a:t>文本</a:t>
            </a:r>
            <a:r>
              <a:rPr lang="zh-CN" altLang="en-US" sz="2000"/>
              <a:t>内容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timestamp:</a:t>
            </a:r>
            <a:r>
              <a:rPr lang="zh-CN" altLang="en-US" sz="2000"/>
              <a:t>时间戳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source:</a:t>
            </a:r>
            <a:r>
              <a:rPr lang="zh-CN" altLang="en-US" sz="2000"/>
              <a:t>来源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模块一</a:t>
            </a:r>
            <a:r>
              <a:rPr lang="en-US" altLang="zh-CN"/>
              <a:t>：</a:t>
            </a:r>
            <a:r>
              <a:rPr lang="zh-CN" altLang="en-US"/>
              <a:t>文本数据</a:t>
            </a:r>
            <a:r>
              <a:rPr lang="zh-CN" altLang="en-US"/>
              <a:t>加载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2.data/loader（</a:t>
            </a:r>
            <a:r>
              <a:rPr lang="zh-CN" altLang="en-US"/>
              <a:t>把原始数据读入</a:t>
            </a:r>
            <a:r>
              <a:rPr lang="en-US" altLang="zh-CN"/>
              <a:t>spark）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用途是把</a:t>
            </a:r>
            <a:r>
              <a:rPr lang="en-US" altLang="zh-CN"/>
              <a:t> CSV/JSON/Parquet</a:t>
            </a:r>
            <a:r>
              <a:rPr lang="zh-CN" altLang="en-US"/>
              <a:t>（本地或</a:t>
            </a:r>
            <a:r>
              <a:rPr lang="en-US" altLang="zh-CN"/>
              <a:t>HDFS</a:t>
            </a:r>
            <a:r>
              <a:rPr lang="zh-CN" altLang="en-US"/>
              <a:t>路径）加载成</a:t>
            </a:r>
            <a:r>
              <a:rPr lang="en-US" altLang="zh-CN"/>
              <a:t> Spark DataFrame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模块一流程总结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Generator </a:t>
            </a:r>
            <a:r>
              <a:rPr lang="zh-CN" altLang="en-US"/>
              <a:t>输出：</a:t>
            </a:r>
            <a:r>
              <a:rPr lang="en-US" altLang="zh-CN"/>
              <a:t>data/raw/raw_data_*.csv</a:t>
            </a:r>
            <a:r>
              <a:rPr lang="zh-CN" altLang="en-US"/>
              <a:t>（字段：</a:t>
            </a:r>
            <a:r>
              <a:rPr lang="en-US" altLang="zh-CN"/>
              <a:t>doc_id/content/timestamp/source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Loader </a:t>
            </a:r>
            <a:r>
              <a:rPr lang="zh-CN" altLang="en-US"/>
              <a:t>输入：默认会去</a:t>
            </a:r>
            <a:r>
              <a:rPr lang="en-US" altLang="zh-CN"/>
              <a:t> data/raw/*.csv </a:t>
            </a:r>
            <a:r>
              <a:rPr lang="zh-CN" altLang="en-US"/>
              <a:t>找文件并读入</a:t>
            </a:r>
            <a:r>
              <a:rPr lang="en-US" altLang="zh-CN"/>
              <a:t> Spark DataFrame</a:t>
            </a:r>
            <a:r>
              <a:rPr lang="zh-CN" altLang="en-US"/>
              <a:t>，</a:t>
            </a:r>
            <a:r>
              <a:rPr lang="en-US" altLang="zh-CN"/>
              <a:t>timestamp </a:t>
            </a:r>
            <a:r>
              <a:rPr lang="zh-CN" altLang="en-US"/>
              <a:t>会被</a:t>
            </a:r>
            <a:r>
              <a:rPr lang="en-US" altLang="zh-CN"/>
              <a:t> cast </a:t>
            </a:r>
            <a:r>
              <a:rPr lang="zh-CN" altLang="en-US"/>
              <a:t>成</a:t>
            </a:r>
            <a:r>
              <a:rPr lang="en-US" altLang="zh-CN"/>
              <a:t> Spark timestamp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模块二</a:t>
            </a:r>
            <a:r>
              <a:rPr lang="en-US" altLang="zh-CN"/>
              <a:t>：</a:t>
            </a:r>
            <a:r>
              <a:rPr lang="zh-CN" altLang="en-US"/>
              <a:t>数据</a:t>
            </a:r>
            <a:r>
              <a:rPr lang="zh-CN" altLang="en-US"/>
              <a:t>预处理</a:t>
            </a:r>
            <a:endParaRPr lang="zh-CN" altLang="en-US"/>
          </a:p>
          <a:p>
            <a:r>
              <a:rPr lang="zh-CN" altLang="en-US"/>
              <a:t>核心目标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把</a:t>
            </a:r>
            <a:r>
              <a:rPr lang="en-US" altLang="zh-CN"/>
              <a:t> data/loader </a:t>
            </a:r>
            <a:r>
              <a:rPr lang="zh-CN" altLang="en-US"/>
              <a:t>读进来的原始文</a:t>
            </a:r>
            <a:r>
              <a:rPr lang="zh-CN" altLang="en-US"/>
              <a:t>本变成后续模块可直接使用的</a:t>
            </a:r>
            <a:r>
              <a:rPr lang="en-US" altLang="zh-CN"/>
              <a:t>“</a:t>
            </a:r>
            <a:r>
              <a:rPr lang="zh-CN" altLang="en-US"/>
              <a:t>干净</a:t>
            </a:r>
            <a:r>
              <a:rPr lang="en-US" altLang="zh-CN"/>
              <a:t> + </a:t>
            </a:r>
            <a:r>
              <a:rPr lang="zh-CN" altLang="en-US"/>
              <a:t>可计算</a:t>
            </a:r>
            <a:r>
              <a:rPr lang="en-US" altLang="zh-CN"/>
              <a:t>” </a:t>
            </a:r>
            <a:r>
              <a:rPr lang="zh-CN" altLang="en-US"/>
              <a:t>数据</a:t>
            </a:r>
            <a:endParaRPr lang="zh-CN" altLang="en-US"/>
          </a:p>
          <a:p>
            <a:pPr marL="285750" indent="-285750"/>
            <a:r>
              <a:rPr lang="zh-CN" altLang="en-US"/>
              <a:t>主要产物</a:t>
            </a:r>
            <a:r>
              <a:rPr lang="en-US" altLang="zh-CN"/>
              <a:t>：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清洗后的文本</a:t>
            </a:r>
            <a:r>
              <a:rPr lang="en-US" altLang="zh-CN"/>
              <a:t>，</a:t>
            </a:r>
            <a:r>
              <a:rPr lang="zh-CN" altLang="en-US"/>
              <a:t>分词</a:t>
            </a:r>
            <a:r>
              <a:rPr lang="zh-CN" altLang="en-US"/>
              <a:t>结果</a:t>
            </a:r>
            <a:endParaRPr lang="zh-CN" altLang="en-US"/>
          </a:p>
          <a:p>
            <a:pPr marL="285750" indent="-285750"/>
            <a:r>
              <a:rPr lang="zh-CN" altLang="en-US" sz="1800">
                <a:sym typeface="+mn-ea"/>
              </a:rPr>
              <a:t>模块架构</a:t>
            </a:r>
            <a:endParaRPr lang="zh-CN" altLang="en-US" sz="1800"/>
          </a:p>
          <a:p>
            <a:pPr marL="0" indent="457200">
              <a:buNone/>
            </a:pPr>
            <a:r>
              <a:rPr lang="en-US" altLang="zh-CN" sz="1800">
                <a:sym typeface="+mn-ea"/>
              </a:rPr>
              <a:t>1）</a:t>
            </a:r>
            <a:r>
              <a:rPr lang="zh-CN" altLang="en-US" sz="1800">
                <a:sym typeface="+mn-ea"/>
              </a:rPr>
              <a:t>文本清洗</a:t>
            </a:r>
            <a:r>
              <a:rPr lang="en-US" altLang="zh-CN" sz="1800">
                <a:sym typeface="+mn-ea"/>
              </a:rPr>
              <a:t>：</a:t>
            </a:r>
            <a:r>
              <a:rPr lang="zh-CN" altLang="en-US" sz="1800">
                <a:sym typeface="+mn-ea"/>
              </a:rPr>
              <a:t>去噪</a:t>
            </a:r>
            <a:r>
              <a:rPr lang="en-US" altLang="zh-CN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去重</a:t>
            </a:r>
            <a:r>
              <a:rPr lang="en-US" altLang="zh-CN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去无效行</a:t>
            </a:r>
            <a:endParaRPr lang="zh-CN" altLang="en-US" sz="1800"/>
          </a:p>
          <a:p>
            <a:pPr marL="457200" lvl="1" indent="457200">
              <a:buNone/>
            </a:pPr>
            <a:r>
              <a:rPr lang="en-US" altLang="zh-CN" sz="1800">
                <a:sym typeface="+mn-ea"/>
              </a:rPr>
              <a:t>URL，</a:t>
            </a:r>
            <a:r>
              <a:rPr lang="zh-CN" altLang="en-US" sz="1800">
                <a:sym typeface="+mn-ea"/>
              </a:rPr>
              <a:t>表情</a:t>
            </a:r>
            <a:r>
              <a:rPr lang="en-US" altLang="zh-CN" sz="1800">
                <a:sym typeface="+mn-ea"/>
              </a:rPr>
              <a:t>，@</a:t>
            </a:r>
            <a:r>
              <a:rPr lang="zh-CN" altLang="en-US" sz="1800">
                <a:sym typeface="+mn-ea"/>
              </a:rPr>
              <a:t>用户名</a:t>
            </a:r>
            <a:r>
              <a:rPr lang="en-US" altLang="zh-CN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特殊字符</a:t>
            </a:r>
            <a:r>
              <a:rPr lang="en-US" altLang="zh-CN" sz="1800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去重</a:t>
            </a:r>
            <a:endParaRPr lang="zh-CN" altLang="en-US" sz="1800"/>
          </a:p>
          <a:p>
            <a:pPr marL="457200" lvl="1" indent="0">
              <a:buNone/>
            </a:pPr>
            <a:r>
              <a:rPr lang="en-US" altLang="zh-CN" sz="1800">
                <a:sym typeface="+mn-ea"/>
              </a:rPr>
              <a:t>2）</a:t>
            </a:r>
            <a:r>
              <a:rPr lang="zh-CN" altLang="en-US" sz="1800">
                <a:sym typeface="+mn-ea"/>
              </a:rPr>
              <a:t>分词</a:t>
            </a:r>
            <a:r>
              <a:rPr lang="en-US" altLang="zh-CN" sz="1800">
                <a:sym typeface="+mn-ea"/>
              </a:rPr>
              <a:t>+</a:t>
            </a:r>
            <a:r>
              <a:rPr lang="zh-CN" altLang="en-US" sz="1800">
                <a:sym typeface="+mn-ea"/>
              </a:rPr>
              <a:t>停用词过滤</a:t>
            </a:r>
            <a:r>
              <a:rPr lang="en-US" altLang="zh-CN" sz="1800">
                <a:sym typeface="+mn-ea"/>
              </a:rPr>
              <a:t>：</a:t>
            </a:r>
            <a:r>
              <a:rPr lang="zh-CN" altLang="en-US" sz="1800">
                <a:sym typeface="+mn-ea"/>
              </a:rPr>
              <a:t>负责把</a:t>
            </a:r>
            <a:r>
              <a:rPr lang="en-US" altLang="zh-CN" sz="1800">
                <a:sym typeface="+mn-ea"/>
              </a:rPr>
              <a:t>content</a:t>
            </a:r>
            <a:r>
              <a:rPr lang="zh-CN" altLang="en-US" sz="1800">
                <a:sym typeface="+mn-ea"/>
              </a:rPr>
              <a:t>转化为</a:t>
            </a:r>
            <a:r>
              <a:rPr lang="en-US" altLang="zh-CN" sz="1800">
                <a:sym typeface="+mn-ea"/>
              </a:rPr>
              <a:t>tokens</a:t>
            </a:r>
            <a:endParaRPr lang="en-US" altLang="zh-CN" sz="1800"/>
          </a:p>
          <a:p>
            <a:pPr marL="285750" indent="-285750"/>
            <a:r>
              <a:rPr lang="zh-CN" altLang="en-US"/>
              <a:t>技术方案</a:t>
            </a:r>
            <a:r>
              <a:rPr lang="en-US" altLang="zh-CN"/>
              <a:t>：</a:t>
            </a:r>
            <a:r>
              <a:rPr lang="en-US" altLang="zh-CN"/>
              <a:t>Spark DataFrame(withColumn, filter, dropDuplicates, explode)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模块三</a:t>
            </a:r>
            <a:r>
              <a:rPr lang="en-US" altLang="zh-CN"/>
              <a:t>：</a:t>
            </a:r>
            <a:r>
              <a:rPr lang="zh-CN" altLang="en-US"/>
              <a:t>热点话题</a:t>
            </a:r>
            <a:r>
              <a:rPr lang="zh-CN" altLang="en-US"/>
              <a:t>挖掘</a:t>
            </a:r>
            <a:endParaRPr lang="zh-CN" altLang="en-US"/>
          </a:p>
          <a:p>
            <a:r>
              <a:rPr lang="zh-CN" altLang="en-US"/>
              <a:t>目标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找出</a:t>
            </a:r>
            <a:r>
              <a:rPr lang="en-US" altLang="zh-CN"/>
              <a:t>：</a:t>
            </a:r>
            <a:r>
              <a:rPr lang="zh-CN" altLang="en-US"/>
              <a:t>热门话题</a:t>
            </a:r>
            <a:r>
              <a:rPr lang="en-US" altLang="zh-CN"/>
              <a:t>、</a:t>
            </a:r>
            <a:r>
              <a:rPr lang="zh-CN" altLang="en-US"/>
              <a:t>话题随时间变化</a:t>
            </a:r>
            <a:r>
              <a:rPr lang="zh-CN" altLang="en-US"/>
              <a:t>趋势</a:t>
            </a:r>
            <a:endParaRPr lang="zh-CN" altLang="en-US"/>
          </a:p>
          <a:p>
            <a:pPr marL="285750" indent="-285750"/>
            <a:r>
              <a:rPr lang="en-US" altLang="zh-CN"/>
              <a:t>Spark</a:t>
            </a:r>
            <a:r>
              <a:rPr lang="zh-CN" altLang="en-US"/>
              <a:t>技术点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Spark SQL / DataFrame API，</a:t>
            </a:r>
            <a:r>
              <a:rPr lang="zh-CN" altLang="en-US"/>
              <a:t>窗口函数（</a:t>
            </a:r>
            <a:r>
              <a:rPr lang="en-US" altLang="zh-CN"/>
              <a:t>Window Functions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/>
            <a:r>
              <a:rPr lang="zh-CN" altLang="en-US"/>
              <a:t>输出示</a:t>
            </a:r>
            <a:r>
              <a:rPr lang="zh-CN" altLang="en-US"/>
              <a:t>例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2025-04-01  </a:t>
            </a:r>
            <a:r>
              <a:rPr lang="zh-CN" altLang="en-US"/>
              <a:t>热点词：</a:t>
            </a:r>
            <a:r>
              <a:rPr lang="en-US" altLang="zh-CN"/>
              <a:t>AI</a:t>
            </a:r>
            <a:r>
              <a:rPr lang="zh-CN" altLang="en-US"/>
              <a:t>、裁员、房价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2025-04-02  </a:t>
            </a:r>
            <a:r>
              <a:rPr lang="zh-CN" altLang="en-US"/>
              <a:t>热点词：高考、就业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模块四</a:t>
            </a:r>
            <a:r>
              <a:rPr lang="en-US" altLang="zh-CN"/>
              <a:t>：</a:t>
            </a:r>
            <a:r>
              <a:rPr lang="zh-CN" altLang="en-US"/>
              <a:t>情感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zh-CN" altLang="en-US"/>
              <a:t>目标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实现一个情感分析模块</a:t>
            </a:r>
            <a:r>
              <a:rPr lang="en-US" altLang="zh-CN"/>
              <a:t>，</a:t>
            </a:r>
            <a:r>
              <a:rPr lang="zh-CN" altLang="en-US"/>
              <a:t>在</a:t>
            </a:r>
            <a:r>
              <a:rPr lang="en-US" altLang="zh-CN"/>
              <a:t>ETL</a:t>
            </a:r>
            <a:r>
              <a:rPr lang="zh-CN" altLang="en-US"/>
              <a:t>产出的</a:t>
            </a:r>
            <a:r>
              <a:rPr lang="en-US" altLang="zh-CN"/>
              <a:t>tokens</a:t>
            </a:r>
            <a:r>
              <a:rPr lang="zh-CN" altLang="en-US"/>
              <a:t>基础上输出</a:t>
            </a:r>
            <a:r>
              <a:rPr lang="en-US" altLang="zh-CN"/>
              <a:t>：</a:t>
            </a:r>
            <a:endParaRPr lang="en-US" altLang="zh-CN"/>
          </a:p>
          <a:p>
            <a:pPr marL="742950" lvl="1" indent="-285750"/>
            <a:r>
              <a:rPr lang="zh-CN" altLang="en-US"/>
              <a:t>文本情感分类</a:t>
            </a:r>
            <a:r>
              <a:rPr lang="en-US" altLang="zh-CN"/>
              <a:t>；</a:t>
            </a:r>
            <a:endParaRPr lang="en-US" altLang="zh-CN"/>
          </a:p>
          <a:p>
            <a:pPr marL="742950" lvl="1" indent="-285750"/>
            <a:r>
              <a:rPr lang="zh-CN" altLang="en-US"/>
              <a:t>可量化的情感得分</a:t>
            </a:r>
            <a:r>
              <a:rPr lang="en-US" altLang="zh-CN"/>
              <a:t>；</a:t>
            </a:r>
            <a:endParaRPr lang="en-US" altLang="zh-CN"/>
          </a:p>
          <a:p>
            <a:pPr marL="742950" lvl="1" indent="-285750"/>
            <a:r>
              <a:rPr lang="zh-CN" altLang="en-US"/>
              <a:t>可统计</a:t>
            </a:r>
            <a:r>
              <a:rPr lang="en-US" altLang="zh-CN"/>
              <a:t>，</a:t>
            </a:r>
            <a:r>
              <a:rPr lang="zh-CN" altLang="en-US"/>
              <a:t>可按来源分析</a:t>
            </a:r>
            <a:r>
              <a:rPr lang="en-US" altLang="zh-CN"/>
              <a:t>，</a:t>
            </a:r>
            <a:r>
              <a:rPr lang="zh-CN" altLang="en-US"/>
              <a:t>可提取样本</a:t>
            </a:r>
            <a:endParaRPr lang="zh-CN" altLang="en-US"/>
          </a:p>
          <a:p>
            <a:pPr marL="285750" indent="-285750"/>
            <a:r>
              <a:rPr lang="zh-CN" altLang="en-US"/>
              <a:t>实现方式</a:t>
            </a:r>
            <a:r>
              <a:rPr lang="en-US" altLang="zh-CN"/>
              <a:t>：</a:t>
            </a:r>
            <a:r>
              <a:rPr lang="zh-CN" altLang="en-US"/>
              <a:t>情感词典法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情感得分</a:t>
            </a:r>
            <a:r>
              <a:rPr lang="en-US" altLang="zh-CN"/>
              <a:t> = </a:t>
            </a:r>
            <a:r>
              <a:rPr lang="zh-CN" altLang="en-US"/>
              <a:t>正面词表</a:t>
            </a:r>
            <a:r>
              <a:rPr lang="en-US" altLang="zh-CN"/>
              <a:t> - </a:t>
            </a:r>
            <a:r>
              <a:rPr lang="zh-CN" altLang="en-US"/>
              <a:t>负面</a:t>
            </a:r>
            <a:r>
              <a:rPr lang="zh-CN" altLang="en-US"/>
              <a:t>词表</a:t>
            </a:r>
            <a:endParaRPr lang="zh-CN" altLang="en-US"/>
          </a:p>
          <a:p>
            <a:pPr marL="285750" indent="-285750"/>
            <a:r>
              <a:rPr lang="zh-CN" altLang="en-US"/>
              <a:t>技术</a:t>
            </a:r>
            <a:r>
              <a:rPr lang="zh-CN" altLang="en-US"/>
              <a:t>点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Spark DataFrame + python UDF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0" indent="45720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模块五</a:t>
            </a:r>
            <a:r>
              <a:rPr lang="en-US" altLang="zh-CN"/>
              <a:t>：</a:t>
            </a:r>
            <a:r>
              <a:rPr lang="zh-CN" altLang="en-US"/>
              <a:t>舆情趋势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zh-CN" altLang="en-US"/>
              <a:t>分析</a:t>
            </a:r>
            <a:r>
              <a:rPr lang="zh-CN" altLang="en-US"/>
              <a:t>目标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情绪随时间</a:t>
            </a:r>
            <a:r>
              <a:rPr lang="zh-CN" altLang="en-US"/>
              <a:t>变化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负面情绪是否突然</a:t>
            </a:r>
            <a:r>
              <a:rPr lang="zh-CN" altLang="en-US"/>
              <a:t>激增</a:t>
            </a:r>
            <a:endParaRPr lang="zh-CN" altLang="en-US"/>
          </a:p>
          <a:p>
            <a:pPr marL="285750" indent="-285750"/>
            <a:r>
              <a:rPr lang="zh-CN" altLang="en-US"/>
              <a:t>实现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情感分布随时间变化（按天</a:t>
            </a:r>
            <a:r>
              <a:rPr lang="en-US" altLang="zh-CN"/>
              <a:t>/</a:t>
            </a:r>
            <a:r>
              <a:rPr lang="zh-CN" altLang="en-US"/>
              <a:t>小时</a:t>
            </a:r>
            <a:r>
              <a:rPr lang="en-US" altLang="zh-CN"/>
              <a:t>/</a:t>
            </a:r>
            <a:r>
              <a:rPr lang="zh-CN" altLang="en-US"/>
              <a:t>周</a:t>
            </a:r>
            <a:r>
              <a:rPr lang="en-US" altLang="zh-CN"/>
              <a:t>/</a:t>
            </a:r>
            <a:r>
              <a:rPr lang="zh-CN" altLang="en-US"/>
              <a:t>月）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负面舆情激增预警（阈值触发</a:t>
            </a:r>
            <a:r>
              <a:rPr lang="en-US" altLang="zh-CN"/>
              <a:t> + </a:t>
            </a:r>
            <a:r>
              <a:rPr lang="zh-CN" altLang="en-US"/>
              <a:t>分级）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趋势变化检测（环比变化、变化速度、峰值识别）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支持按来源拆分对比（微博</a:t>
            </a:r>
            <a:r>
              <a:rPr lang="en-US" altLang="zh-CN"/>
              <a:t>/</a:t>
            </a:r>
            <a:r>
              <a:rPr lang="zh-CN" altLang="en-US"/>
              <a:t>商品</a:t>
            </a:r>
            <a:r>
              <a:rPr lang="en-US" altLang="zh-CN"/>
              <a:t>/</a:t>
            </a:r>
            <a:r>
              <a:rPr lang="zh-CN" altLang="en-US"/>
              <a:t>新闻等）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，</a:t>
            </a:r>
            <a:r>
              <a:rPr lang="zh-CN" altLang="en-US"/>
              <a:t>系统整体功能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模块五</a:t>
            </a:r>
            <a:r>
              <a:rPr lang="en-US" altLang="zh-CN"/>
              <a:t>：</a:t>
            </a:r>
            <a:r>
              <a:rPr lang="zh-CN" altLang="en-US"/>
              <a:t>舆情趋势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zh-CN" altLang="en-US"/>
              <a:t>技术方案</a:t>
            </a:r>
            <a:r>
              <a:rPr lang="en-US" altLang="zh-CN"/>
              <a:t>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趋势表（</a:t>
            </a:r>
            <a:r>
              <a:rPr lang="en-US" altLang="zh-CN"/>
              <a:t>time series</a:t>
            </a:r>
            <a:r>
              <a:rPr lang="zh-CN" altLang="en-US"/>
              <a:t>）：每个时间桶输出</a:t>
            </a:r>
            <a:r>
              <a:rPr lang="en-US" altLang="zh-CN"/>
              <a:t> positive/negative/neutral </a:t>
            </a:r>
            <a:r>
              <a:rPr lang="zh-CN" altLang="en-US"/>
              <a:t>的</a:t>
            </a:r>
            <a:r>
              <a:rPr lang="en-US" altLang="zh-CN"/>
              <a:t> count </a:t>
            </a:r>
            <a:r>
              <a:rPr lang="zh-CN" altLang="en-US"/>
              <a:t>和</a:t>
            </a:r>
            <a:r>
              <a:rPr lang="en-US" altLang="zh-CN"/>
              <a:t> pct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得分趋势：每桶输出</a:t>
            </a:r>
            <a:r>
              <a:rPr lang="en-US" altLang="zh-CN"/>
              <a:t> avg/min/max/std </a:t>
            </a:r>
            <a:r>
              <a:rPr lang="zh-CN" altLang="en-US"/>
              <a:t>情感得分统计，用于刻画波动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负面预警：</a:t>
            </a:r>
            <a:r>
              <a:rPr lang="en-US" altLang="zh-CN"/>
              <a:t>negative_pct &gt;= threshold </a:t>
            </a:r>
            <a:r>
              <a:rPr lang="zh-CN" altLang="en-US"/>
              <a:t>触发预警，并输出</a:t>
            </a:r>
            <a:r>
              <a:rPr lang="en-US" altLang="zh-CN"/>
              <a:t> warning/high/critical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变化检测：用</a:t>
            </a:r>
            <a:r>
              <a:rPr lang="en-US" altLang="zh-CN"/>
              <a:t> lag </a:t>
            </a:r>
            <a:r>
              <a:rPr lang="zh-CN" altLang="en-US"/>
              <a:t>计算环比变化，并标注</a:t>
            </a:r>
            <a:r>
              <a:rPr lang="en-US" altLang="zh-CN"/>
              <a:t> surge/drop/stable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速度（导数）：以</a:t>
            </a:r>
            <a:r>
              <a:rPr lang="en-US" altLang="zh-CN"/>
              <a:t> avg_score </a:t>
            </a:r>
            <a:r>
              <a:rPr lang="zh-CN" altLang="en-US"/>
              <a:t>计算变化速度并给出方向标签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，</a:t>
            </a:r>
            <a:r>
              <a:rPr lang="zh-CN" altLang="en-US"/>
              <a:t>系统架构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核心思想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用</a:t>
            </a:r>
            <a:r>
              <a:rPr lang="en-US" altLang="zh-CN"/>
              <a:t>Spark</a:t>
            </a:r>
            <a:r>
              <a:rPr lang="zh-CN" altLang="en-US"/>
              <a:t>对非结构化文本做批处理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4" name="图片 3" descr="截屏2025-12-14 18.30.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608330"/>
            <a:ext cx="5016500" cy="6070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，</a:t>
            </a:r>
            <a:r>
              <a:rPr lang="zh-CN" altLang="en-US"/>
              <a:t>系统架构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第一层</a:t>
            </a:r>
            <a:r>
              <a:rPr lang="en-US" altLang="zh-CN"/>
              <a:t>：</a:t>
            </a:r>
            <a:r>
              <a:rPr lang="zh-CN" altLang="en-US"/>
              <a:t>数据源</a:t>
            </a:r>
            <a:r>
              <a:rPr lang="zh-CN" altLang="en-US"/>
              <a:t>层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来源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微博品论</a:t>
            </a:r>
            <a:r>
              <a:rPr lang="en-US" altLang="zh-CN"/>
              <a:t>、</a:t>
            </a:r>
            <a:r>
              <a:rPr lang="zh-CN" altLang="en-US"/>
              <a:t>新闻</a:t>
            </a:r>
            <a:r>
              <a:rPr lang="en-US" altLang="zh-CN"/>
              <a:t>（</a:t>
            </a:r>
            <a:r>
              <a:rPr lang="zh-CN" altLang="en-US"/>
              <a:t>公开数据集</a:t>
            </a:r>
            <a:r>
              <a:rPr lang="en-US" altLang="zh-CN"/>
              <a:t>）</a:t>
            </a:r>
            <a:endParaRPr lang="en-US" altLang="zh-CN"/>
          </a:p>
          <a:p>
            <a:pPr marL="285750" indent="-285750"/>
            <a:r>
              <a:rPr lang="zh-CN" altLang="en-US"/>
              <a:t>数据格式</a:t>
            </a:r>
            <a:endParaRPr lang="zh-CN" altLang="en-US"/>
          </a:p>
          <a:p>
            <a:pPr marL="457200" lvl="1" indent="0">
              <a:buNone/>
            </a:pPr>
            <a:endParaRPr lang="en-US" altLang="zh-CN"/>
          </a:p>
          <a:p>
            <a:pPr marL="457200" lvl="1" indent="0">
              <a:buNone/>
            </a:pP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content: </a:t>
            </a:r>
            <a:r>
              <a:rPr lang="zh-CN" altLang="en-US"/>
              <a:t>文本</a:t>
            </a:r>
            <a:r>
              <a:rPr lang="zh-CN" altLang="en-US"/>
              <a:t>主题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timestamp: </a:t>
            </a:r>
            <a:r>
              <a:rPr lang="zh-CN" altLang="en-US"/>
              <a:t>做趋势</a:t>
            </a:r>
            <a:r>
              <a:rPr lang="zh-CN" altLang="en-US"/>
              <a:t>分析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source: </a:t>
            </a:r>
            <a:r>
              <a:rPr lang="zh-CN" altLang="en-US"/>
              <a:t>区分</a:t>
            </a:r>
            <a:r>
              <a:rPr lang="zh-CN" altLang="en-US"/>
              <a:t>品台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358265" y="3679825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doc_id</a:t>
                      </a:r>
                      <a:endParaRPr lang="en-US" altLang="zh-CN" b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US" altLang="zh-CN" b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altLang="zh-CN" b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altLang="zh-CN" b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alpha val="6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，</a:t>
            </a:r>
            <a:r>
              <a:rPr lang="zh-CN" altLang="en-US"/>
              <a:t>系统架构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第二层</a:t>
            </a:r>
            <a:r>
              <a:rPr lang="en-US" altLang="zh-CN"/>
              <a:t>：</a:t>
            </a:r>
            <a:r>
              <a:rPr lang="zh-CN" altLang="en-US"/>
              <a:t>存储层</a:t>
            </a:r>
            <a:endParaRPr lang="zh-CN" altLang="en-US"/>
          </a:p>
          <a:p>
            <a:r>
              <a:rPr lang="zh-CN" altLang="en-US"/>
              <a:t>技术</a:t>
            </a:r>
            <a:r>
              <a:rPr lang="zh-CN" altLang="en-US"/>
              <a:t>选型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HDFS</a:t>
            </a:r>
            <a:endParaRPr lang="en-US" altLang="zh-CN"/>
          </a:p>
          <a:p>
            <a:pPr marL="285750" indent="-285750"/>
            <a:r>
              <a:rPr lang="zh-CN" altLang="en-US"/>
              <a:t>文件</a:t>
            </a:r>
            <a:r>
              <a:rPr lang="zh-CN" altLang="en-US"/>
              <a:t>格式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769110" y="3552825"/>
          <a:ext cx="7482840" cy="2082800"/>
        </p:xfrm>
        <a:graphic>
          <a:graphicData uri="http://schemas.openxmlformats.org/drawingml/2006/table">
            <a:tbl>
              <a:tblPr/>
              <a:tblGrid>
                <a:gridCol w="1599565"/>
                <a:gridCol w="2082800"/>
                <a:gridCol w="3800475"/>
              </a:tblGrid>
              <a:tr h="520700"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阶段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格式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原因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原始数据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CSV / JSON</a:t>
                      </a:r>
                      <a:endParaRPr lang="en-US" altLang="zh-CN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易生成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清洗后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Parquet</a:t>
                      </a:r>
                      <a:endParaRPr lang="en-US" altLang="zh-CN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列式存储，</a:t>
                      </a:r>
                      <a:r>
                        <a:rPr lang="en-US" altLang="zh-CN" sz="1800" b="0"/>
                        <a:t>Spark </a:t>
                      </a:r>
                      <a:r>
                        <a:rPr lang="zh-CN" altLang="en-US" sz="1800" b="0"/>
                        <a:t>友好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结果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CSV / Parquet</a:t>
                      </a:r>
                      <a:endParaRPr lang="en-US" altLang="zh-CN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/>
                        <a:t> </a:t>
                      </a:r>
                      <a:r>
                        <a:rPr lang="zh-CN" altLang="en-US" sz="1800" b="0"/>
                        <a:t>易展示</a:t>
                      </a:r>
                      <a:endParaRPr lang="zh-CN" altLang="en-US" sz="1800" b="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，</a:t>
            </a:r>
            <a:r>
              <a:rPr lang="zh-CN" altLang="en-US"/>
              <a:t>系统架构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第三层</a:t>
            </a:r>
            <a:r>
              <a:rPr lang="en-US" altLang="zh-CN"/>
              <a:t>：</a:t>
            </a:r>
            <a:r>
              <a:rPr lang="zh-CN" altLang="en-US"/>
              <a:t>计算</a:t>
            </a:r>
            <a:r>
              <a:rPr lang="zh-CN" altLang="en-US"/>
              <a:t>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对应</a:t>
            </a:r>
            <a:r>
              <a:rPr lang="zh-CN" altLang="en-US"/>
              <a:t>五大核心</a:t>
            </a:r>
            <a:r>
              <a:rPr lang="zh-CN" altLang="en-US"/>
              <a:t>功能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 descr="截屏2025-12-14 18.51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955" y="304800"/>
            <a:ext cx="3517900" cy="6553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，</a:t>
            </a:r>
            <a:r>
              <a:rPr lang="zh-CN" altLang="en-US"/>
              <a:t>系统架构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第四层</a:t>
            </a:r>
            <a:r>
              <a:rPr lang="en-US" altLang="zh-CN"/>
              <a:t>：</a:t>
            </a:r>
            <a:r>
              <a:rPr lang="zh-CN" altLang="en-US"/>
              <a:t>结果</a:t>
            </a:r>
            <a:r>
              <a:rPr lang="zh-CN" altLang="en-US"/>
              <a:t>层</a:t>
            </a:r>
            <a:endParaRPr lang="zh-CN" altLang="en-US"/>
          </a:p>
          <a:p>
            <a:r>
              <a:rPr lang="zh-CN" altLang="en-US"/>
              <a:t>简单的可视化</a:t>
            </a:r>
            <a:br>
              <a:rPr lang="zh-CN" altLang="en-US"/>
            </a:br>
            <a:r>
              <a:rPr lang="en-US" altLang="zh-CN"/>
              <a:t>python</a:t>
            </a:r>
            <a:endParaRPr lang="en-US" altLang="zh-CN"/>
          </a:p>
          <a:p>
            <a:r>
              <a:rPr lang="zh-CN" altLang="en-US"/>
              <a:t>输出</a:t>
            </a:r>
            <a:r>
              <a:rPr lang="zh-CN" altLang="en-US"/>
              <a:t>示例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热点关键词</a:t>
            </a:r>
            <a:r>
              <a:rPr lang="en-US" altLang="zh-CN"/>
              <a:t> Top-N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每日情感分布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舆情趋势变化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en-US" altLang="zh-CN"/>
              <a:t>，</a:t>
            </a:r>
            <a:r>
              <a:rPr lang="zh-CN" altLang="en-US"/>
              <a:t>当前</a:t>
            </a:r>
            <a:r>
              <a:rPr lang="zh-CN" altLang="en-US"/>
              <a:t>进度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环境搭建</a:t>
            </a:r>
            <a:r>
              <a:rPr lang="en-US" altLang="zh-CN"/>
              <a:t> </a:t>
            </a: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√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457200">
              <a:buNone/>
            </a:pPr>
            <a:r>
              <a:rPr lang="en-US" altLang="zh-CN"/>
              <a:t>HDFS，Spark，python</a:t>
            </a:r>
            <a:r>
              <a:rPr lang="zh-CN" altLang="en-US"/>
              <a:t>依赖</a:t>
            </a:r>
            <a:endParaRPr lang="zh-CN" altLang="en-US"/>
          </a:p>
          <a:p>
            <a:r>
              <a:rPr lang="zh-CN" altLang="en-US"/>
              <a:t>数据收集</a:t>
            </a:r>
            <a:r>
              <a:rPr lang="en-US" altLang="zh-CN"/>
              <a:t> </a:t>
            </a:r>
            <a:r>
              <a:rPr lang="en-US" altLang="zh-CN">
                <a:latin typeface="Arial" panose="020B0604020202090204" pitchFamily="34" charset="0"/>
              </a:rPr>
              <a:t>×</a:t>
            </a:r>
            <a:endParaRPr lang="en-US" altLang="zh-CN">
              <a:latin typeface="Arial" panose="020B0604020202090204" pitchFamily="34" charset="0"/>
            </a:endParaRPr>
          </a:p>
          <a:p>
            <a:pPr marL="0" indent="457200">
              <a:buNone/>
            </a:pPr>
            <a:endParaRPr lang="en-US" altLang="zh-CN">
              <a:latin typeface="Arial" panose="020B0604020202090204" pitchFamily="34" charset="0"/>
            </a:endParaRPr>
          </a:p>
          <a:p>
            <a:r>
              <a:rPr lang="zh-CN" altLang="en-US"/>
              <a:t>计算层代码编写</a:t>
            </a:r>
            <a:r>
              <a:rPr lang="en-US" altLang="zh-CN"/>
              <a:t> </a:t>
            </a: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√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57200" lvl="1" indent="0">
              <a:buNone/>
            </a:pPr>
            <a:r>
              <a:rPr lang="zh-CN" altLang="en-US"/>
              <a:t>依靠</a:t>
            </a:r>
            <a:r>
              <a:rPr lang="en-US" altLang="zh-CN"/>
              <a:t>AI</a:t>
            </a:r>
            <a:r>
              <a:rPr lang="zh-CN" altLang="en-US"/>
              <a:t>可以快速编写</a:t>
            </a:r>
            <a:r>
              <a:rPr lang="zh-CN" altLang="en-US"/>
              <a:t>代码</a:t>
            </a:r>
            <a:endParaRPr lang="zh-CN" altLang="en-US"/>
          </a:p>
          <a:p>
            <a:r>
              <a:rPr lang="zh-CN" altLang="en-US"/>
              <a:t>可视化</a:t>
            </a:r>
            <a:r>
              <a:rPr lang="en-US" altLang="zh-CN"/>
              <a:t> </a:t>
            </a:r>
            <a:r>
              <a:rPr lang="en-US" altLang="zh-CN">
                <a:latin typeface="Arial" panose="020B0604020202090204" pitchFamily="34" charset="0"/>
              </a:rPr>
              <a:t>×</a:t>
            </a:r>
            <a:endParaRPr lang="en-US" altLang="zh-CN">
              <a:latin typeface="Arial" panose="020B0604020202090204" pitchFamily="34" charset="0"/>
            </a:endParaRPr>
          </a:p>
          <a:p>
            <a:pPr marL="0" indent="457200">
              <a:buNone/>
            </a:pPr>
            <a:r>
              <a:rPr lang="zh-CN" altLang="en-US"/>
              <a:t>计划用</a:t>
            </a:r>
            <a:r>
              <a:rPr lang="en-US" altLang="zh-CN"/>
              <a:t>python</a:t>
            </a:r>
            <a:r>
              <a:rPr lang="zh-CN" altLang="en-US"/>
              <a:t>做一个简单的可视化工具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457200" lvl="1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TABLE_ENDDRAG_ORIGIN_RECT" val="589*163"/>
  <p:tag name="TABLE_ENDDRAG_RECT" val="139*279*589*163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WPS 演示</Application>
  <PresentationFormat>宽屏</PresentationFormat>
  <Paragraphs>199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WPS</vt:lpstr>
      <vt:lpstr>基于Spark的舆情分析系统</vt:lpstr>
      <vt:lpstr>一，这个应用有什么用</vt:lpstr>
      <vt:lpstr>一，这个应用有什么用</vt:lpstr>
      <vt:lpstr>一，这个应用有什么用</vt:lpstr>
      <vt:lpstr>二，系统整体功能设计</vt:lpstr>
      <vt:lpstr>PowerPoint 演示文稿</vt:lpstr>
      <vt:lpstr>PowerPoint 演示文稿</vt:lpstr>
      <vt:lpstr>二，系统整体功能设计</vt:lpstr>
      <vt:lpstr>二，系统整体功能设计</vt:lpstr>
      <vt:lpstr>二，系统整体功能设计</vt:lpstr>
      <vt:lpstr>PowerPoint 演示文稿</vt:lpstr>
      <vt:lpstr>三，系统架构设计</vt:lpstr>
      <vt:lpstr>三，系统架构设计</vt:lpstr>
      <vt:lpstr>三，系统架构设计</vt:lpstr>
      <vt:lpstr>三，系统架构设计</vt:lpstr>
      <vt:lpstr>三，系统架构设计</vt:lpstr>
      <vt:lpstr>四，当前进度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xiebaoma</cp:lastModifiedBy>
  <cp:revision>167</cp:revision>
  <dcterms:created xsi:type="dcterms:W3CDTF">2025-12-18T13:38:40Z</dcterms:created>
  <dcterms:modified xsi:type="dcterms:W3CDTF">2025-12-18T13:38:40Z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F0B4E3B937DF29DE4B843E69B22BB04B_41</vt:lpwstr>
  </property>
</Properties>
</file>